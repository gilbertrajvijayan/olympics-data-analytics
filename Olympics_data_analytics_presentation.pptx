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3" r:id="rId1"/>
  </p:sldMasterIdLst>
  <p:sldIdLst>
    <p:sldId id="272" r:id="rId2"/>
    <p:sldId id="271" r:id="rId3"/>
    <p:sldId id="259" r:id="rId4"/>
    <p:sldId id="275" r:id="rId5"/>
    <p:sldId id="274" r:id="rId6"/>
    <p:sldId id="276" r:id="rId7"/>
    <p:sldId id="277" r:id="rId8"/>
    <p:sldId id="278" r:id="rId9"/>
    <p:sldId id="279" r:id="rId10"/>
    <p:sldId id="280" r:id="rId11"/>
    <p:sldId id="281" r:id="rId12"/>
    <p:sldId id="282" r:id="rId13"/>
    <p:sldId id="283" r:id="rId14"/>
    <p:sldId id="284" r:id="rId15"/>
    <p:sldId id="285" r:id="rId16"/>
    <p:sldId id="29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60"/>
  </p:normalViewPr>
  <p:slideViewPr>
    <p:cSldViewPr snapToGrid="0">
      <p:cViewPr varScale="1">
        <p:scale>
          <a:sx n="118" d="100"/>
          <a:sy n="118" d="100"/>
        </p:scale>
        <p:origin x="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D618-2739-D98B-0A76-FD11741728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AFDB8C-BB64-C8A2-C7D8-CB0E100E5D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5059D8-447F-1272-6CAB-65956646BA56}"/>
              </a:ext>
            </a:extLst>
          </p:cNvPr>
          <p:cNvSpPr>
            <a:spLocks noGrp="1"/>
          </p:cNvSpPr>
          <p:nvPr>
            <p:ph type="dt" sz="half" idx="10"/>
          </p:nvPr>
        </p:nvSpPr>
        <p:spPr/>
        <p:txBody>
          <a:bodyPr/>
          <a:lstStyle/>
          <a:p>
            <a:fld id="{5873351A-7A70-4CFC-A508-3ABCBBB1E7AD}" type="datetimeFigureOut">
              <a:rPr lang="en-US" smtClean="0"/>
              <a:t>4/9/26</a:t>
            </a:fld>
            <a:endParaRPr lang="en-US"/>
          </a:p>
        </p:txBody>
      </p:sp>
      <p:sp>
        <p:nvSpPr>
          <p:cNvPr id="5" name="Footer Placeholder 4">
            <a:extLst>
              <a:ext uri="{FF2B5EF4-FFF2-40B4-BE49-F238E27FC236}">
                <a16:creationId xmlns:a16="http://schemas.microsoft.com/office/drawing/2014/main" id="{D4E4784C-1F39-04F3-C666-878CD8E034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DE77D-2A02-C603-BDEC-3F4903678322}"/>
              </a:ext>
            </a:extLst>
          </p:cNvPr>
          <p:cNvSpPr>
            <a:spLocks noGrp="1"/>
          </p:cNvSpPr>
          <p:nvPr>
            <p:ph type="sldNum" sz="quarter" idx="12"/>
          </p:nvPr>
        </p:nvSpPr>
        <p:spPr/>
        <p:txBody>
          <a:bodyPr/>
          <a:lstStyle/>
          <a:p>
            <a:fld id="{185689DD-9526-49E6-B299-4E8F6C390933}" type="slidenum">
              <a:rPr lang="en-US" smtClean="0"/>
              <a:t>‹#›</a:t>
            </a:fld>
            <a:endParaRPr lang="en-US"/>
          </a:p>
        </p:txBody>
      </p:sp>
    </p:spTree>
    <p:extLst>
      <p:ext uri="{BB962C8B-B14F-4D97-AF65-F5344CB8AC3E}">
        <p14:creationId xmlns:p14="http://schemas.microsoft.com/office/powerpoint/2010/main" val="2526188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4/9/26</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5209579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608E1A-B08E-2009-F223-A4D096089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F63684-D126-1A55-36B4-A4B403E38C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AF930B-13E5-0DD2-6E48-74BDE4BA2C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73351A-7A70-4CFC-A508-3ABCBBB1E7AD}" type="datetimeFigureOut">
              <a:rPr lang="en-US" smtClean="0"/>
              <a:t>4/9/26</a:t>
            </a:fld>
            <a:endParaRPr lang="en-US"/>
          </a:p>
        </p:txBody>
      </p:sp>
      <p:sp>
        <p:nvSpPr>
          <p:cNvPr id="5" name="Footer Placeholder 4">
            <a:extLst>
              <a:ext uri="{FF2B5EF4-FFF2-40B4-BE49-F238E27FC236}">
                <a16:creationId xmlns:a16="http://schemas.microsoft.com/office/drawing/2014/main" id="{E97755B0-8C4F-88B3-AE30-B5E1EDCBB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DC5D612-06A9-E97C-62B1-295B92E1C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5689DD-9526-49E6-B299-4E8F6C390933}" type="slidenum">
              <a:rPr lang="en-US" smtClean="0"/>
              <a:t>‹#›</a:t>
            </a:fld>
            <a:endParaRPr lang="en-US"/>
          </a:p>
        </p:txBody>
      </p:sp>
    </p:spTree>
    <p:extLst>
      <p:ext uri="{BB962C8B-B14F-4D97-AF65-F5344CB8AC3E}">
        <p14:creationId xmlns:p14="http://schemas.microsoft.com/office/powerpoint/2010/main" val="269162597"/>
      </p:ext>
    </p:extLst>
  </p:cSld>
  <p:clrMap bg1="lt1" tx1="dk1" bg2="lt2" tx2="dk2" accent1="accent1" accent2="accent2" accent3="accent3" accent4="accent4" accent5="accent5" accent6="accent6" hlink="hlink" folHlink="folHlink"/>
  <p:sldLayoutIdLst>
    <p:sldLayoutId id="2147483754" r:id="rId1"/>
    <p:sldLayoutId id="214748375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918E-B1A2-D722-6047-A8F09261F83D}"/>
              </a:ext>
            </a:extLst>
          </p:cNvPr>
          <p:cNvSpPr>
            <a:spLocks noGrp="1"/>
          </p:cNvSpPr>
          <p:nvPr>
            <p:ph type="title"/>
          </p:nvPr>
        </p:nvSpPr>
        <p:spPr>
          <a:xfrm>
            <a:off x="838200" y="2260758"/>
            <a:ext cx="10515600" cy="2336483"/>
          </a:xfrm>
        </p:spPr>
        <p:txBody>
          <a:bodyPr>
            <a:normAutofit/>
          </a:bodyPr>
          <a:lstStyle/>
          <a:p>
            <a:r>
              <a:rPr lang="en-US" sz="5400" b="1" dirty="0">
                <a:solidFill>
                  <a:schemeClr val="accent2"/>
                </a:solidFill>
                <a:effectLst/>
                <a:latin typeface="Times New Roman" panose="02020603050405020304" pitchFamily="18" charset="0"/>
              </a:rPr>
              <a:t>A Comprehensive Analysis of Olympic Trends and Medal Success</a:t>
            </a:r>
            <a:endParaRPr lang="en-US" sz="5400" dirty="0">
              <a:solidFill>
                <a:schemeClr val="accent2"/>
              </a:solidFill>
              <a:latin typeface="Amasis MT Pro Medium"/>
              <a:cs typeface="Times New Roman"/>
            </a:endParaRPr>
          </a:p>
        </p:txBody>
      </p:sp>
      <p:pic>
        <p:nvPicPr>
          <p:cNvPr id="6" name="Picture 5" descr="A group of men standing on a podium with medals&#10;&#10;Description automatically generated">
            <a:extLst>
              <a:ext uri="{FF2B5EF4-FFF2-40B4-BE49-F238E27FC236}">
                <a16:creationId xmlns:a16="http://schemas.microsoft.com/office/drawing/2014/main" id="{C4E1FED1-6732-5CFB-A905-CA229C4B4D81}"/>
              </a:ext>
            </a:extLst>
          </p:cNvPr>
          <p:cNvPicPr>
            <a:picLocks noChangeAspect="1"/>
          </p:cNvPicPr>
          <p:nvPr/>
        </p:nvPicPr>
        <p:blipFill>
          <a:blip r:embed="rId2"/>
          <a:srcRect l="5649" t="30597" b="1"/>
          <a:stretch/>
        </p:blipFill>
        <p:spPr>
          <a:xfrm>
            <a:off x="117988" y="121919"/>
            <a:ext cx="3001132" cy="2138839"/>
          </a:xfrm>
          <a:prstGeom prst="rect">
            <a:avLst/>
          </a:prstGeom>
        </p:spPr>
      </p:pic>
    </p:spTree>
    <p:extLst>
      <p:ext uri="{BB962C8B-B14F-4D97-AF65-F5344CB8AC3E}">
        <p14:creationId xmlns:p14="http://schemas.microsoft.com/office/powerpoint/2010/main" val="2892040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CABD5E-D536-C361-1236-53FC1E9370DF}"/>
              </a:ext>
            </a:extLst>
          </p:cNvPr>
          <p:cNvSpPr>
            <a:spLocks noGrp="1"/>
          </p:cNvSpPr>
          <p:nvPr>
            <p:ph type="title"/>
          </p:nvPr>
        </p:nvSpPr>
        <p:spPr>
          <a:xfrm>
            <a:off x="661158" y="316302"/>
            <a:ext cx="5334197" cy="1708242"/>
          </a:xfrm>
        </p:spPr>
        <p:txBody>
          <a:bodyPr anchor="ctr">
            <a:normAutofit/>
          </a:bodyPr>
          <a:lstStyle/>
          <a:p>
            <a:r>
              <a:rPr lang="en-US" b="1" dirty="0">
                <a:solidFill>
                  <a:schemeClr val="accent2"/>
                </a:solidFill>
                <a:latin typeface="Times New Roman" panose="02020603050405020304" pitchFamily="18" charset="0"/>
                <a:cs typeface="Times New Roman" panose="02020603050405020304" pitchFamily="18" charset="0"/>
              </a:rPr>
              <a:t>Introduction</a:t>
            </a:r>
          </a:p>
        </p:txBody>
      </p:sp>
      <p:sp>
        <p:nvSpPr>
          <p:cNvPr id="4" name="Content Placeholder 3">
            <a:extLst>
              <a:ext uri="{FF2B5EF4-FFF2-40B4-BE49-F238E27FC236}">
                <a16:creationId xmlns:a16="http://schemas.microsoft.com/office/drawing/2014/main" id="{01E55FD5-D34B-2DD7-491D-71C07ADB42D7}"/>
              </a:ext>
            </a:extLst>
          </p:cNvPr>
          <p:cNvSpPr>
            <a:spLocks noGrp="1"/>
          </p:cNvSpPr>
          <p:nvPr>
            <p:ph idx="1"/>
          </p:nvPr>
        </p:nvSpPr>
        <p:spPr>
          <a:xfrm>
            <a:off x="661159" y="1592826"/>
            <a:ext cx="9897984" cy="4302197"/>
          </a:xfrm>
        </p:spPr>
        <p:txBody>
          <a:bodyPr vert="horz" lIns="91440" tIns="45720" rIns="91440" bIns="45720" rtlCol="0" anchor="ctr">
            <a:noAutofit/>
          </a:bodyPr>
          <a:lstStyle/>
          <a:p>
            <a:pPr marR="0" lvl="0" defTabSz="914400" rtl="0" eaLnBrk="1" fontAlgn="auto" latinLnBrk="0" hangingPunct="1">
              <a:spcBef>
                <a:spcPts val="1000"/>
              </a:spcBef>
              <a:spcAft>
                <a:spcPts val="0"/>
              </a:spcAft>
              <a:buClrTx/>
              <a:buSzTx/>
              <a:buFont typeface="Wingdings" panose="05000000000000000000" pitchFamily="2" charset="2"/>
              <a:buChar char="v"/>
              <a:tabLst/>
              <a:defRPr/>
            </a:pPr>
            <a:r>
              <a:rPr kumimoji="0" lang="en-US" sz="2400" b="1" i="0" u="none" strike="noStrike" kern="1200" cap="none" spc="0" normalizeH="0" baseline="0" noProof="0" dirty="0">
                <a:ln>
                  <a:noFill/>
                </a:ln>
                <a:solidFill>
                  <a:schemeClr val="tx2">
                    <a:lumMod val="75000"/>
                    <a:lumOff val="25000"/>
                  </a:schemeClr>
                </a:solidFill>
                <a:effectLst/>
                <a:uLnTx/>
                <a:uFillTx/>
                <a:latin typeface="Times New Roman" panose="02020603050405020304" pitchFamily="18" charset="0"/>
                <a:cs typeface="Times New Roman" panose="02020603050405020304" pitchFamily="18" charset="0"/>
              </a:rPr>
              <a:t>Motivation:</a:t>
            </a:r>
            <a:endParaRPr lang="en-US" sz="2400" b="1" i="0" u="none" strike="noStrike" kern="1200" cap="none" spc="0" normalizeH="0" baseline="0" noProof="0" dirty="0">
              <a:ln>
                <a:noFill/>
              </a:ln>
              <a:solidFill>
                <a:schemeClr val="tx2">
                  <a:lumMod val="75000"/>
                  <a:lumOff val="25000"/>
                </a:schemeClr>
              </a:solidFill>
              <a:effectLst/>
              <a:uLnTx/>
              <a:uFillTx/>
              <a:latin typeface="Times New Roman" panose="02020603050405020304" pitchFamily="18" charset="0"/>
              <a:cs typeface="Times New Roman" panose="02020603050405020304" pitchFamily="18"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Analyzing Olympic data gives the chance to discover trends, further optimize training strategies, and underpin evidence-based decisions in view of enhancing athletic performance and competitiveness at a national level.</a:t>
            </a:r>
          </a:p>
          <a:p>
            <a:endParaRPr lang="en-US" sz="2100" b="0" i="0" u="none" strike="noStrike" kern="1200" cap="none" spc="0" normalizeH="0" baseline="0" noProof="0" dirty="0">
              <a:ln>
                <a:noFill/>
              </a:ln>
              <a:solidFill>
                <a:schemeClr val="tx2">
                  <a:lumMod val="75000"/>
                  <a:lumOff val="25000"/>
                </a:schemeClr>
              </a:solidFill>
              <a:effectLst/>
              <a:uLnTx/>
              <a:uFillTx/>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1" dirty="0">
                <a:solidFill>
                  <a:schemeClr val="tx2">
                    <a:lumMod val="75000"/>
                    <a:lumOff val="25000"/>
                  </a:schemeClr>
                </a:solidFill>
                <a:latin typeface="Times New Roman" panose="02020603050405020304" pitchFamily="18" charset="0"/>
                <a:cs typeface="Times New Roman" panose="02020603050405020304" pitchFamily="18" charset="0"/>
              </a:rPr>
              <a:t>Goals/Objectives:</a:t>
            </a:r>
          </a:p>
          <a:p>
            <a:pPr lvl="1" algn="just"/>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Analyze trends in Olympic performance and participation.</a:t>
            </a:r>
          </a:p>
          <a:p>
            <a:pPr lvl="1" algn="just"/>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Identify medal distribution patterns by nationality, age, and gender.</a:t>
            </a:r>
          </a:p>
          <a:p>
            <a:pPr lvl="1" algn="just"/>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Analyze demographic factors influencing medal success.</a:t>
            </a:r>
          </a:p>
          <a:p>
            <a:pPr lvl="1" algn="just"/>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863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EDDF6-7EA8-3553-2C1D-2B07B9E7E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3361F-6EBE-D5A1-7691-FD403CD699D2}"/>
              </a:ext>
            </a:extLst>
          </p:cNvPr>
          <p:cNvSpPr>
            <a:spLocks noGrp="1"/>
          </p:cNvSpPr>
          <p:nvPr>
            <p:ph type="title"/>
          </p:nvPr>
        </p:nvSpPr>
        <p:spPr>
          <a:xfrm>
            <a:off x="490502" y="743159"/>
            <a:ext cx="11146053" cy="517606"/>
          </a:xfrm>
        </p:spPr>
        <p:txBody>
          <a:bodyPr>
            <a:normAutofit fontScale="90000"/>
          </a:bodyPr>
          <a:lstStyle/>
          <a:p>
            <a:r>
              <a:rPr lang="en-US" b="1" dirty="0">
                <a:solidFill>
                  <a:schemeClr val="accent2"/>
                </a:solidFill>
                <a:latin typeface="Times New Roman" panose="02020603050405020304" pitchFamily="18" charset="0"/>
                <a:cs typeface="Times New Roman" panose="02020603050405020304" pitchFamily="18" charset="0"/>
              </a:rPr>
              <a:t>Dataset Overview</a:t>
            </a:r>
            <a:br>
              <a:rPr lang="en-US" b="1" dirty="0">
                <a:solidFill>
                  <a:schemeClr val="accent2"/>
                </a:solidFill>
              </a:rPr>
            </a:br>
            <a:endParaRPr lang="en-US" dirty="0">
              <a:solidFill>
                <a:schemeClr val="accent2"/>
              </a:solidFill>
            </a:endParaRPr>
          </a:p>
        </p:txBody>
      </p:sp>
      <p:sp>
        <p:nvSpPr>
          <p:cNvPr id="3" name="TextBox 2">
            <a:extLst>
              <a:ext uri="{FF2B5EF4-FFF2-40B4-BE49-F238E27FC236}">
                <a16:creationId xmlns:a16="http://schemas.microsoft.com/office/drawing/2014/main" id="{41D5E061-39B7-ADEE-1425-17C9FB275F11}"/>
              </a:ext>
            </a:extLst>
          </p:cNvPr>
          <p:cNvSpPr txBox="1"/>
          <p:nvPr/>
        </p:nvSpPr>
        <p:spPr>
          <a:xfrm>
            <a:off x="496390" y="1260765"/>
            <a:ext cx="11508376" cy="5770811"/>
          </a:xfrm>
          <a:prstGeom prst="rect">
            <a:avLst/>
          </a:prstGeom>
          <a:noFill/>
        </p:spPr>
        <p:txBody>
          <a:bodyPr wrap="square" rtlCol="0">
            <a:spAutoFit/>
          </a:bodyPr>
          <a:lstStyle/>
          <a:p>
            <a:r>
              <a:rPr lang="en-US" sz="2400" b="1" dirty="0">
                <a:solidFill>
                  <a:schemeClr val="tx2">
                    <a:lumMod val="75000"/>
                    <a:lumOff val="25000"/>
                  </a:schemeClr>
                </a:solidFill>
                <a:latin typeface="Times New Roman" panose="02020603050405020304" pitchFamily="18" charset="0"/>
                <a:cs typeface="Times New Roman" panose="02020603050405020304" pitchFamily="18" charset="0"/>
              </a:rPr>
              <a:t>Data Source-</a:t>
            </a:r>
            <a:br>
              <a:rPr lang="en-US" sz="2100" dirty="0">
                <a:latin typeface="Times New Roman" panose="02020603050405020304" pitchFamily="18" charset="0"/>
                <a:cs typeface="Times New Roman" panose="02020603050405020304" pitchFamily="18" charset="0"/>
              </a:rPr>
            </a:b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The dataset is sourced from Olympic dataset which is available on Kaggle. </a:t>
            </a:r>
          </a:p>
          <a:p>
            <a:pPr algn="just"/>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The data has been gathered through Kaggle Dataset: "120 years of Olympic history: Athletes and results". Complementary sources: Wikipedia, International Olympic Committee (IOC), </a:t>
            </a:r>
            <a:r>
              <a:rPr lang="en-US" sz="2100" dirty="0" err="1">
                <a:solidFill>
                  <a:schemeClr val="tx2">
                    <a:lumMod val="75000"/>
                    <a:lumOff val="25000"/>
                  </a:schemeClr>
                </a:solidFill>
                <a:latin typeface="Times New Roman" panose="02020603050405020304" pitchFamily="18" charset="0"/>
                <a:cs typeface="Times New Roman" panose="02020603050405020304" pitchFamily="18" charset="0"/>
              </a:rPr>
              <a:t>SportsDataIO</a:t>
            </a: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 API, Django Mustang GitHub repository.</a:t>
            </a:r>
          </a:p>
          <a:p>
            <a:r>
              <a:rPr lang="en-US" sz="2100" b="1" dirty="0">
                <a:solidFill>
                  <a:schemeClr val="tx2">
                    <a:lumMod val="75000"/>
                    <a:lumOff val="25000"/>
                  </a:schemeClr>
                </a:solidFill>
                <a:latin typeface="Times New Roman" panose="02020603050405020304" pitchFamily="18" charset="0"/>
                <a:cs typeface="Times New Roman" panose="02020603050405020304" pitchFamily="18" charset="0"/>
              </a:rPr>
              <a:t>Authors </a:t>
            </a:r>
            <a:r>
              <a:rPr lang="en-US" sz="2100" b="1" dirty="0">
                <a:solidFill>
                  <a:srgbClr val="0070C0"/>
                </a:solidFill>
                <a:latin typeface="Times New Roman" panose="02020603050405020304" pitchFamily="18" charset="0"/>
                <a:cs typeface="Times New Roman" panose="02020603050405020304" pitchFamily="18" charset="0"/>
              </a:rPr>
              <a:t>- </a:t>
            </a: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Kaggle contributors and community for validation and Complementary data verified by the IOC and Wikipedia</a:t>
            </a:r>
          </a:p>
          <a:p>
            <a:r>
              <a:rPr lang="en-US" sz="2400" b="1" dirty="0">
                <a:solidFill>
                  <a:schemeClr val="tx2">
                    <a:lumMod val="75000"/>
                    <a:lumOff val="25000"/>
                  </a:schemeClr>
                </a:solidFill>
                <a:latin typeface="Times New Roman" panose="02020603050405020304" pitchFamily="18" charset="0"/>
                <a:cs typeface="Times New Roman" panose="02020603050405020304" pitchFamily="18" charset="0"/>
              </a:rPr>
              <a:t>Dataset Overview-</a:t>
            </a:r>
            <a:endParaRPr lang="en-US" sz="2400" dirty="0">
              <a:solidFill>
                <a:schemeClr val="tx2">
                  <a:lumMod val="75000"/>
                  <a:lumOff val="25000"/>
                </a:schemeClr>
              </a:solidFill>
              <a:latin typeface="Times New Roman" panose="02020603050405020304" pitchFamily="18" charset="0"/>
              <a:cs typeface="Times New Roman" panose="02020603050405020304" pitchFamily="18" charset="0"/>
            </a:endParaRPr>
          </a:p>
          <a:p>
            <a:pPr marL="800100" lvl="1" indent="-342900">
              <a:buFont typeface="Wingdings" pitchFamily="2" charset="2"/>
              <a:buChar char="v"/>
            </a:pPr>
            <a:r>
              <a:rPr lang="en-US" sz="2400" b="1" dirty="0">
                <a:solidFill>
                  <a:schemeClr val="tx2">
                    <a:lumMod val="75000"/>
                    <a:lumOff val="25000"/>
                  </a:schemeClr>
                </a:solidFill>
                <a:latin typeface="Times New Roman" panose="02020603050405020304" pitchFamily="18" charset="0"/>
                <a:cs typeface="Times New Roman" panose="02020603050405020304" pitchFamily="18" charset="0"/>
              </a:rPr>
              <a:t>Geographic Scope</a:t>
            </a:r>
            <a:r>
              <a:rPr lang="en-US" sz="2400" dirty="0">
                <a:solidFill>
                  <a:schemeClr val="tx2">
                    <a:lumMod val="75000"/>
                    <a:lumOff val="25000"/>
                  </a:schemeClr>
                </a:solidFill>
                <a:latin typeface="Times New Roman" panose="02020603050405020304" pitchFamily="18" charset="0"/>
                <a:cs typeface="Times New Roman" panose="02020603050405020304" pitchFamily="18" charset="0"/>
              </a:rPr>
              <a:t>:</a:t>
            </a:r>
            <a:br>
              <a:rPr lang="en-US" sz="2100" dirty="0">
                <a:latin typeface="Times New Roman" panose="02020603050405020304" pitchFamily="18" charset="0"/>
                <a:cs typeface="Times New Roman" panose="02020603050405020304" pitchFamily="18" charset="0"/>
              </a:rPr>
            </a:b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Global: Covers athletes and events from 200+ countries participating in the Olympic Games during the years 2000–2016.</a:t>
            </a:r>
          </a:p>
          <a:p>
            <a:pPr marL="800100" lvl="1" indent="-342900">
              <a:buFont typeface="Wingdings" pitchFamily="2" charset="2"/>
              <a:buChar char="v"/>
            </a:pPr>
            <a:r>
              <a:rPr lang="en-US" sz="2400" b="1" dirty="0">
                <a:solidFill>
                  <a:schemeClr val="tx2">
                    <a:lumMod val="75000"/>
                    <a:lumOff val="25000"/>
                  </a:schemeClr>
                </a:solidFill>
                <a:latin typeface="Times New Roman" panose="02020603050405020304" pitchFamily="18" charset="0"/>
                <a:cs typeface="Times New Roman" panose="02020603050405020304" pitchFamily="18" charset="0"/>
              </a:rPr>
              <a:t>Temporal Scope</a:t>
            </a:r>
            <a:r>
              <a:rPr lang="en-US" sz="2400" dirty="0">
                <a:solidFill>
                  <a:schemeClr val="tx2">
                    <a:lumMod val="75000"/>
                    <a:lumOff val="25000"/>
                  </a:schemeClr>
                </a:solidFill>
                <a:latin typeface="Times New Roman" panose="02020603050405020304" pitchFamily="18" charset="0"/>
                <a:cs typeface="Times New Roman" panose="02020603050405020304" pitchFamily="18" charset="0"/>
              </a:rPr>
              <a:t>:</a:t>
            </a:r>
            <a:b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b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Focuses on the years 2000-2016 (Summer and Winter games)</a:t>
            </a:r>
          </a:p>
          <a:p>
            <a:pPr marL="800100" lvl="1" indent="-342900">
              <a:buFont typeface="Wingdings" pitchFamily="2" charset="2"/>
              <a:buChar char="v"/>
            </a:pPr>
            <a:r>
              <a:rPr lang="en-US" sz="2400" b="1" dirty="0">
                <a:solidFill>
                  <a:schemeClr val="tx2">
                    <a:lumMod val="75000"/>
                    <a:lumOff val="25000"/>
                  </a:schemeClr>
                </a:solidFill>
                <a:latin typeface="Times New Roman" panose="02020603050405020304" pitchFamily="18" charset="0"/>
                <a:cs typeface="Times New Roman" panose="02020603050405020304" pitchFamily="18" charset="0"/>
              </a:rPr>
              <a:t>Utility</a:t>
            </a:r>
            <a:r>
              <a:rPr lang="en-US" sz="2400" dirty="0">
                <a:solidFill>
                  <a:schemeClr val="tx2">
                    <a:lumMod val="75000"/>
                    <a:lumOff val="25000"/>
                  </a:schemeClr>
                </a:solidFill>
                <a:latin typeface="Times New Roman" panose="02020603050405020304" pitchFamily="18" charset="0"/>
                <a:cs typeface="Times New Roman" panose="02020603050405020304" pitchFamily="18" charset="0"/>
              </a:rPr>
              <a:t>:</a:t>
            </a:r>
            <a:b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br>
            <a:r>
              <a:rPr lang="en-US" sz="2100" dirty="0">
                <a:solidFill>
                  <a:schemeClr val="tx2">
                    <a:lumMod val="75000"/>
                    <a:lumOff val="25000"/>
                  </a:schemeClr>
                </a:solidFill>
                <a:latin typeface="Times New Roman" panose="02020603050405020304" pitchFamily="18" charset="0"/>
                <a:cs typeface="Times New Roman" panose="02020603050405020304" pitchFamily="18" charset="0"/>
              </a:rPr>
              <a:t>Analyze trends in medal distribution by gender, nationality, and age. nobles talent scouting based on athlete demographics.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03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2E80B-1333-C27B-80EE-E5D94780704D}"/>
              </a:ext>
            </a:extLst>
          </p:cNvPr>
          <p:cNvSpPr>
            <a:spLocks noGrp="1"/>
          </p:cNvSpPr>
          <p:nvPr>
            <p:ph type="title"/>
          </p:nvPr>
        </p:nvSpPr>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Exploring Data and Crafting the Story</a:t>
            </a:r>
          </a:p>
        </p:txBody>
      </p:sp>
      <p:sp>
        <p:nvSpPr>
          <p:cNvPr id="3" name="Content Placeholder 2">
            <a:extLst>
              <a:ext uri="{FF2B5EF4-FFF2-40B4-BE49-F238E27FC236}">
                <a16:creationId xmlns:a16="http://schemas.microsoft.com/office/drawing/2014/main" id="{04A72AD3-12CA-75F7-5CEA-7D9BE0B05BEC}"/>
              </a:ext>
            </a:extLst>
          </p:cNvPr>
          <p:cNvSpPr>
            <a:spLocks noGrp="1"/>
          </p:cNvSpPr>
          <p:nvPr>
            <p:ph idx="1"/>
          </p:nvPr>
        </p:nvSpPr>
        <p:spPr/>
        <p:txBody>
          <a:bodyPr/>
          <a:lstStyle/>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Time Spent</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Considerable time was spent understanding the dataset, cleaning, and pre-processing to ensure accuracy and consistency.</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Data Preprocessing</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Imputed missing values in columns such as Age, Height and weight for completeness and normalized categorical columns like NOC to ensure uniformity</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Filtering</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Dropped columns with minimal variance or redundant information(columns with a single value), removed rows with significant data discrepancies, ensuring realistic timelines and consistent event data</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Outliners &amp; Categorization</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Identified and addressed outliners in physical metrics(e.g. athletes with improbable height/weight values), categorized medal achievements and participation trends for better story telling</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Visual displays &amp; story crafting</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Developed visualizations highlighting athlete demographics, participation trends and medal distribution.</a:t>
            </a:r>
          </a:p>
          <a:p>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38518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31FA7-0CAD-D220-1874-C1100F477210}"/>
              </a:ext>
            </a:extLst>
          </p:cNvPr>
          <p:cNvSpPr>
            <a:spLocks noGrp="1"/>
          </p:cNvSpPr>
          <p:nvPr>
            <p:ph type="title"/>
          </p:nvPr>
        </p:nvSpPr>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Key Variable Definition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35FE5F-DB2C-0A85-464A-079D7D31F370}"/>
              </a:ext>
            </a:extLst>
          </p:cNvPr>
          <p:cNvSpPr>
            <a:spLocks noGrp="1"/>
          </p:cNvSpPr>
          <p:nvPr>
            <p:ph idx="1"/>
          </p:nvPr>
        </p:nvSpPr>
        <p:spPr/>
        <p:txBody>
          <a:bodyPr>
            <a:normAutofit/>
          </a:bodyPr>
          <a:lstStyle/>
          <a:p>
            <a:pPr>
              <a:buFont typeface="Wingdings" panose="05000000000000000000" pitchFamily="2" charset="2"/>
              <a:buChar char="v"/>
            </a:pPr>
            <a:endParaRPr lang="en-US" sz="20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Participation Count</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The total number of events an athlete participated in during a specific Olympic year.</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Performance Rank</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Relative ranking of athletes based on medal achievements and event performance.</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Games</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The specific Olympic event, including the year and season </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NOC</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The National Olympic Committee code, that represents the country or region.</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Season</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Specifies whether the Olympic Games were held in Summer or Winter.</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Sport</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The broader category of competition (e.g., Swimming, Athletics).</a:t>
            </a:r>
            <a:endParaRPr lang="en-IN" sz="2000"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0027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6649-3826-94B6-57A7-91F84F2C5445}"/>
              </a:ext>
            </a:extLst>
          </p:cNvPr>
          <p:cNvSpPr>
            <a:spLocks noGrp="1"/>
          </p:cNvSpPr>
          <p:nvPr>
            <p:ph type="title"/>
          </p:nvPr>
        </p:nvSpPr>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Limitations of Data</a:t>
            </a:r>
          </a:p>
        </p:txBody>
      </p:sp>
      <p:sp>
        <p:nvSpPr>
          <p:cNvPr id="3" name="Content Placeholder 2">
            <a:extLst>
              <a:ext uri="{FF2B5EF4-FFF2-40B4-BE49-F238E27FC236}">
                <a16:creationId xmlns:a16="http://schemas.microsoft.com/office/drawing/2014/main" id="{E188FE3B-7D92-0725-F7B2-30D9D78D82CA}"/>
              </a:ext>
            </a:extLst>
          </p:cNvPr>
          <p:cNvSpPr>
            <a:spLocks noGrp="1"/>
          </p:cNvSpPr>
          <p:nvPr>
            <p:ph idx="1"/>
          </p:nvPr>
        </p:nvSpPr>
        <p:spPr/>
        <p:txBody>
          <a:bodyPr>
            <a:normAutofit/>
          </a:bodyPr>
          <a:lstStyle/>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Missing Data</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Some fields, such as medals and physical attributes (age, height, weight), have missing values</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Aggregated Information</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The dataset focuses on athletes but lacks contextual details such as training history or socio-economic factors.</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Historical Context</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Notes in the country data suggest political or historical changes might not be reflected accurately across all events.</a:t>
            </a:r>
          </a:p>
          <a:p>
            <a:pPr>
              <a:buFont typeface="Wingdings" panose="05000000000000000000" pitchFamily="2" charset="2"/>
              <a:buChar char="v"/>
            </a:pPr>
            <a:r>
              <a:rPr lang="en-US" sz="2000" b="1" dirty="0">
                <a:solidFill>
                  <a:schemeClr val="tx2">
                    <a:lumMod val="75000"/>
                    <a:lumOff val="25000"/>
                  </a:schemeClr>
                </a:solidFill>
                <a:latin typeface="Times New Roman" panose="02020603050405020304" pitchFamily="18" charset="0"/>
                <a:cs typeface="Times New Roman" panose="02020603050405020304" pitchFamily="18" charset="0"/>
              </a:rPr>
              <a:t>Representation</a:t>
            </a: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 Smaller nations or underrepresented sports may lack comprehensive data.</a:t>
            </a:r>
            <a:endParaRPr lang="en-IN" sz="2000"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58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046" y="0"/>
            <a:ext cx="10249988" cy="1045029"/>
          </a:xfrm>
        </p:spPr>
        <p:txBody>
          <a:bodyPr>
            <a:noAutofit/>
          </a:bodyPr>
          <a:lstStyle/>
          <a:p>
            <a:r>
              <a:rPr lang="en-US" sz="3600" dirty="0">
                <a:solidFill>
                  <a:srgbClr val="FF0000"/>
                </a:solidFill>
                <a:latin typeface="Times New Roman" panose="02020603050405020304" pitchFamily="18" charset="0"/>
                <a:cs typeface="Times New Roman" panose="02020603050405020304" pitchFamily="18" charset="0"/>
              </a:rPr>
              <a:t>Question: "How does the age distribution of athletes differ by gender across various age groups?"</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27908"/>
            <a:ext cx="12191999" cy="5630091"/>
          </a:xfrm>
          <a:prstGeom prst="rect">
            <a:avLst/>
          </a:prstGeom>
          <a:noFill/>
          <a:ln>
            <a:noFill/>
          </a:ln>
        </p:spPr>
      </p:pic>
    </p:spTree>
    <p:extLst>
      <p:ext uri="{BB962C8B-B14F-4D97-AF65-F5344CB8AC3E}">
        <p14:creationId xmlns:p14="http://schemas.microsoft.com/office/powerpoint/2010/main" val="2453025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94" y="531223"/>
            <a:ext cx="10572206" cy="592183"/>
          </a:xfrm>
        </p:spPr>
        <p:txBody>
          <a:bodyPr>
            <a:normAutofit fontScale="90000"/>
          </a:bodyPr>
          <a:lstStyle/>
          <a:p>
            <a:r>
              <a:rPr lang="en-US" sz="4000" dirty="0">
                <a:solidFill>
                  <a:srgbClr val="FF0000"/>
                </a:solidFill>
                <a:latin typeface="Times New Roman" panose="02020603050405020304" pitchFamily="18" charset="0"/>
                <a:cs typeface="Times New Roman" panose="02020603050405020304" pitchFamily="18" charset="0"/>
              </a:rPr>
              <a:t>Question: "Which countries have the highest representation of athletes in the Olympics?"</a:t>
            </a:r>
            <a:br>
              <a:rPr lang="en-US" dirty="0"/>
            </a:br>
            <a:endParaRPr lang="en-IN" dirty="0"/>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 y="1123406"/>
            <a:ext cx="12252960" cy="5734594"/>
          </a:xfrm>
          <a:prstGeom prst="rect">
            <a:avLst/>
          </a:prstGeom>
          <a:noFill/>
          <a:ln>
            <a:noFill/>
          </a:ln>
        </p:spPr>
      </p:pic>
    </p:spTree>
    <p:extLst>
      <p:ext uri="{BB962C8B-B14F-4D97-AF65-F5344CB8AC3E}">
        <p14:creationId xmlns:p14="http://schemas.microsoft.com/office/powerpoint/2010/main" val="2111228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76" y="0"/>
            <a:ext cx="10668000" cy="1020128"/>
          </a:xfrm>
        </p:spPr>
        <p:txBody>
          <a:bodyPr>
            <a:normAutofit fontScale="90000"/>
          </a:bodyPr>
          <a:lstStyle/>
          <a:p>
            <a:r>
              <a:rPr lang="en-US" sz="3600" dirty="0">
                <a:solidFill>
                  <a:srgbClr val="FF0000"/>
                </a:solidFill>
                <a:latin typeface="Times New Roman" panose="02020603050405020304" pitchFamily="18" charset="0"/>
                <a:cs typeface="Times New Roman" panose="02020603050405020304" pitchFamily="18" charset="0"/>
              </a:rPr>
              <a:t>Question: "Which cities have hosted the most sports and teams in the Olympics?"</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120684"/>
            <a:ext cx="12192000" cy="5737316"/>
          </a:xfrm>
          <a:prstGeom prst="rect">
            <a:avLst/>
          </a:prstGeom>
          <a:noFill/>
          <a:ln>
            <a:noFill/>
          </a:ln>
        </p:spPr>
      </p:pic>
    </p:spTree>
    <p:extLst>
      <p:ext uri="{BB962C8B-B14F-4D97-AF65-F5344CB8AC3E}">
        <p14:creationId xmlns:p14="http://schemas.microsoft.com/office/powerpoint/2010/main" val="1337087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227909"/>
          </a:xfrm>
        </p:spPr>
        <p:txBody>
          <a:bodyPr>
            <a:normAutofit/>
          </a:bodyPr>
          <a:lstStyle/>
          <a:p>
            <a:pPr lvl="0"/>
            <a:r>
              <a:rPr lang="en-US" sz="3200" dirty="0">
                <a:solidFill>
                  <a:srgbClr val="FF0000"/>
                </a:solidFill>
                <a:latin typeface="Times New Roman" panose="02020603050405020304" pitchFamily="18" charset="0"/>
                <a:cs typeface="Times New Roman" panose="02020603050405020304" pitchFamily="18" charset="0"/>
              </a:rPr>
              <a:t>Question: "How has athlete participation in the Summer and Winter Olympics changed over time?"</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27908"/>
            <a:ext cx="12192000" cy="5721531"/>
          </a:xfrm>
          <a:prstGeom prst="rect">
            <a:avLst/>
          </a:prstGeom>
          <a:noFill/>
          <a:ln>
            <a:noFill/>
          </a:ln>
        </p:spPr>
      </p:pic>
    </p:spTree>
    <p:extLst>
      <p:ext uri="{BB962C8B-B14F-4D97-AF65-F5344CB8AC3E}">
        <p14:creationId xmlns:p14="http://schemas.microsoft.com/office/powerpoint/2010/main" val="2316744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 y="34834"/>
            <a:ext cx="10515600" cy="1325563"/>
          </a:xfrm>
        </p:spPr>
        <p:txBody>
          <a:bodyPr>
            <a:noAutofit/>
          </a:bodyPr>
          <a:lstStyle/>
          <a:p>
            <a:r>
              <a:rPr lang="en-US" sz="3200" dirty="0">
                <a:solidFill>
                  <a:srgbClr val="FF0000"/>
                </a:solidFill>
                <a:latin typeface="Times New Roman" panose="02020603050405020304" pitchFamily="18" charset="0"/>
                <a:cs typeface="Times New Roman" panose="02020603050405020304" pitchFamily="18" charset="0"/>
              </a:rPr>
              <a:t>Question: "Which countries have won the most medals, and what types of medals (gold, silver, bronze) do they predominantly win?"</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Picture 3"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60397"/>
            <a:ext cx="12192000" cy="5497603"/>
          </a:xfrm>
          <a:prstGeom prst="rect">
            <a:avLst/>
          </a:prstGeom>
          <a:noFill/>
          <a:ln>
            <a:noFill/>
          </a:ln>
        </p:spPr>
      </p:pic>
    </p:spTree>
    <p:extLst>
      <p:ext uri="{BB962C8B-B14F-4D97-AF65-F5344CB8AC3E}">
        <p14:creationId xmlns:p14="http://schemas.microsoft.com/office/powerpoint/2010/main" val="273086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noAutofit/>
          </a:bodyPr>
          <a:lstStyle/>
          <a:p>
            <a:r>
              <a:rPr lang="en-US" sz="3200" dirty="0">
                <a:solidFill>
                  <a:srgbClr val="FF0000"/>
                </a:solidFill>
                <a:latin typeface="Times New Roman" panose="02020603050405020304" pitchFamily="18" charset="0"/>
                <a:cs typeface="Times New Roman" panose="02020603050405020304" pitchFamily="18" charset="0"/>
              </a:rPr>
              <a:t>Question: "Which type of medal (gold, silver, or bronze) is most dominant for each country participating in the Olympics?"</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405027"/>
            <a:ext cx="12192000" cy="5526996"/>
          </a:xfrm>
          <a:prstGeom prst="rect">
            <a:avLst/>
          </a:prstGeom>
          <a:noFill/>
          <a:ln>
            <a:noFill/>
          </a:ln>
        </p:spPr>
      </p:pic>
    </p:spTree>
    <p:extLst>
      <p:ext uri="{BB962C8B-B14F-4D97-AF65-F5344CB8AC3E}">
        <p14:creationId xmlns:p14="http://schemas.microsoft.com/office/powerpoint/2010/main" val="693492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normAutofit fontScale="90000"/>
          </a:bodyPr>
          <a:lstStyle/>
          <a:p>
            <a:r>
              <a:rPr lang="en-US" sz="3600" dirty="0">
                <a:solidFill>
                  <a:srgbClr val="FF0000"/>
                </a:solidFill>
                <a:latin typeface="Times New Roman" panose="02020603050405020304" pitchFamily="18" charset="0"/>
                <a:cs typeface="Times New Roman" panose="02020603050405020304" pitchFamily="18" charset="0"/>
              </a:rPr>
              <a:t>Question: "How does participation in the Olympics vary between countries, and how is it divided between Summer and Winter Games?"</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25563"/>
            <a:ext cx="12192000" cy="5532437"/>
          </a:xfrm>
          <a:prstGeom prst="rect">
            <a:avLst/>
          </a:prstGeom>
          <a:noFill/>
          <a:ln>
            <a:noFill/>
          </a:ln>
        </p:spPr>
      </p:pic>
    </p:spTree>
    <p:extLst>
      <p:ext uri="{BB962C8B-B14F-4D97-AF65-F5344CB8AC3E}">
        <p14:creationId xmlns:p14="http://schemas.microsoft.com/office/powerpoint/2010/main" val="1844221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normAutofit fontScale="90000"/>
          </a:bodyPr>
          <a:lstStyle/>
          <a:p>
            <a:r>
              <a:rPr lang="en-US" sz="3600" dirty="0">
                <a:solidFill>
                  <a:srgbClr val="FF0000"/>
                </a:solidFill>
                <a:latin typeface="Times New Roman" panose="02020603050405020304" pitchFamily="18" charset="0"/>
                <a:cs typeface="Times New Roman" panose="02020603050405020304" pitchFamily="18" charset="0"/>
              </a:rPr>
              <a:t>Question: "What is the relationship between height and</a:t>
            </a:r>
            <a:r>
              <a:rPr lang="en-US" dirty="0"/>
              <a:t> </a:t>
            </a:r>
            <a:r>
              <a:rPr lang="en-US" sz="3600" dirty="0">
                <a:solidFill>
                  <a:srgbClr val="FF0000"/>
                </a:solidFill>
                <a:latin typeface="Times New Roman" panose="02020603050405020304" pitchFamily="18" charset="0"/>
                <a:cs typeface="Times New Roman" panose="02020603050405020304" pitchFamily="18" charset="0"/>
              </a:rPr>
              <a:t>weight across different sports, and do specific sports show distinct patterns in this relationship?"</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402442"/>
            <a:ext cx="12192000" cy="5455557"/>
          </a:xfrm>
          <a:prstGeom prst="rect">
            <a:avLst/>
          </a:prstGeom>
          <a:noFill/>
          <a:ln>
            <a:noFill/>
          </a:ln>
        </p:spPr>
      </p:pic>
    </p:spTree>
    <p:extLst>
      <p:ext uri="{BB962C8B-B14F-4D97-AF65-F5344CB8AC3E}">
        <p14:creationId xmlns:p14="http://schemas.microsoft.com/office/powerpoint/2010/main" val="1941917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49" y="0"/>
            <a:ext cx="10515600" cy="1325563"/>
          </a:xfrm>
        </p:spPr>
        <p:txBody>
          <a:bodyPr>
            <a:noAutofit/>
          </a:bodyPr>
          <a:lstStyle/>
          <a:p>
            <a:r>
              <a:rPr lang="en-US" sz="3200" dirty="0">
                <a:solidFill>
                  <a:srgbClr val="FF0000"/>
                </a:solidFill>
                <a:latin typeface="Times New Roman" panose="02020603050405020304" pitchFamily="18" charset="0"/>
                <a:cs typeface="Times New Roman" panose="02020603050405020304" pitchFamily="18" charset="0"/>
              </a:rPr>
              <a:t>Question: "How is the distribution of medals (gold, silver, bronze) across different age groups of athletes in the Olympics?"</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Picture 3" descr="A screenshot of a computer&#10;&#10;Description automatically generated"/>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50" y="1325563"/>
            <a:ext cx="12215949" cy="5532437"/>
          </a:xfrm>
          <a:prstGeom prst="rect">
            <a:avLst/>
          </a:prstGeom>
          <a:noFill/>
          <a:ln>
            <a:noFill/>
          </a:ln>
        </p:spPr>
      </p:pic>
    </p:spTree>
    <p:extLst>
      <p:ext uri="{BB962C8B-B14F-4D97-AF65-F5344CB8AC3E}">
        <p14:creationId xmlns:p14="http://schemas.microsoft.com/office/powerpoint/2010/main" val="204615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4447D-C56B-71EF-8A0C-5579277359D2}"/>
              </a:ext>
            </a:extLst>
          </p:cNvPr>
          <p:cNvSpPr>
            <a:spLocks noGrp="1"/>
          </p:cNvSpPr>
          <p:nvPr>
            <p:ph type="title"/>
          </p:nvPr>
        </p:nvSpPr>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8B3E1E5-C10D-1DFB-4669-57C7C82ABDE9}"/>
              </a:ext>
            </a:extLst>
          </p:cNvPr>
          <p:cNvSpPr>
            <a:spLocks noGrp="1"/>
          </p:cNvSpPr>
          <p:nvPr>
            <p:ph idx="1"/>
          </p:nvPr>
        </p:nvSpPr>
        <p:spPr>
          <a:xfrm>
            <a:off x="838200" y="1550020"/>
            <a:ext cx="10515600" cy="4626943"/>
          </a:xfrm>
        </p:spPr>
        <p:txBody>
          <a:bodyPr>
            <a:noAutofit/>
          </a:bodyPr>
          <a:lstStyle/>
          <a:p>
            <a:pPr>
              <a:buFont typeface="Wingdings" panose="05000000000000000000" pitchFamily="2" charset="2"/>
              <a:buChar char="v"/>
            </a:pPr>
            <a:r>
              <a:rPr lang="en-US" sz="2000" dirty="0">
                <a:solidFill>
                  <a:schemeClr val="tx2">
                    <a:lumMod val="75000"/>
                    <a:lumOff val="25000"/>
                  </a:schemeClr>
                </a:solidFill>
                <a:effectLst/>
                <a:latin typeface="Times New Roman" panose="02020603050405020304" pitchFamily="18" charset="0"/>
                <a:cs typeface="Times New Roman" panose="02020603050405020304" pitchFamily="18" charset="0"/>
              </a:rPr>
              <a:t>Participation Trend: Countries such as the USA, China top the list in sending athletes to the Olympics. The Summer Olympics have always drawn in more participants compared to the Winter Games.</a:t>
            </a:r>
          </a:p>
          <a:p>
            <a:pPr>
              <a:buFont typeface="Wingdings" panose="05000000000000000000" pitchFamily="2" charset="2"/>
              <a:buChar char="v"/>
            </a:pPr>
            <a:r>
              <a:rPr lang="en-US" sz="2000" dirty="0">
                <a:solidFill>
                  <a:schemeClr val="tx2">
                    <a:lumMod val="75000"/>
                    <a:lumOff val="25000"/>
                  </a:schemeClr>
                </a:solidFill>
                <a:effectLst/>
                <a:latin typeface="Times New Roman" panose="02020603050405020304" pitchFamily="18" charset="0"/>
                <a:cs typeface="Times New Roman" panose="02020603050405020304" pitchFamily="18" charset="0"/>
              </a:rPr>
              <a:t>Distribution of Medal Patterns: The general medal success is monopolized by a limited set of nations; there is a considerable contribution of younger athletes from the 20-25 age bracket, mainly for physically demanding sports.</a:t>
            </a:r>
          </a:p>
          <a:p>
            <a:pPr>
              <a:buFont typeface="Wingdings" panose="05000000000000000000" pitchFamily="2" charset="2"/>
              <a:buChar char="v"/>
            </a:pP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Demographic insights: It can be noticed that there is relationship of gender and other physical characteristics, height, and weight with medal success in certain sports that will aid in talent identification and optimization of training. </a:t>
            </a:r>
          </a:p>
          <a:p>
            <a:pPr>
              <a:buFont typeface="Wingdings" panose="05000000000000000000" pitchFamily="2" charset="2"/>
              <a:buChar char="v"/>
            </a:pP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Strategic Implications: Medal and demographic analyses provides an indication to national committees regarding resource allocation, focusing on sports and demographics that can give the highest medal potential.</a:t>
            </a:r>
          </a:p>
          <a:p>
            <a:pPr>
              <a:buFont typeface="Wingdings" panose="05000000000000000000" pitchFamily="2" charset="2"/>
              <a:buChar char="v"/>
            </a:pPr>
            <a: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t>Future Scope: The findings make a case for data-driven approaches in sports management, as this would further help in the refinement of training programs and strategizing in context for future Olympic events.</a:t>
            </a:r>
            <a:br>
              <a:rPr lang="en-US" sz="2000" dirty="0">
                <a:solidFill>
                  <a:schemeClr val="tx2">
                    <a:lumMod val="75000"/>
                    <a:lumOff val="25000"/>
                  </a:schemeClr>
                </a:solidFill>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488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otalTime>846</TotalTime>
  <Words>900</Words>
  <Application>Microsoft Macintosh PowerPoint</Application>
  <PresentationFormat>Widescreen</PresentationFormat>
  <Paragraphs>51</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Amasis MT Pro Medium</vt:lpstr>
      <vt:lpstr>Aptos</vt:lpstr>
      <vt:lpstr>Aptos Display</vt:lpstr>
      <vt:lpstr>Arial</vt:lpstr>
      <vt:lpstr>Times New Roman</vt:lpstr>
      <vt:lpstr>Wingdings</vt:lpstr>
      <vt:lpstr>Office Theme</vt:lpstr>
      <vt:lpstr>A Comprehensive Analysis of Olympic Trends and Medal Success</vt:lpstr>
      <vt:lpstr>Introduction</vt:lpstr>
      <vt:lpstr>Dataset Overview </vt:lpstr>
      <vt:lpstr>Exploring Data and Crafting the Story</vt:lpstr>
      <vt:lpstr>Key Variable Definition</vt:lpstr>
      <vt:lpstr>Limitations of Data</vt:lpstr>
      <vt:lpstr>Question: "How does the age distribution of athletes differ by gender across various age groups?"</vt:lpstr>
      <vt:lpstr>Question: "Which countries have the highest representation of athletes in the Olympics?" </vt:lpstr>
      <vt:lpstr>Question: "Which cities have hosted the most sports and teams in the Olympics?"</vt:lpstr>
      <vt:lpstr>Question: "How has athlete participation in the Summer and Winter Olympics changed over time?"</vt:lpstr>
      <vt:lpstr>Question: "Which countries have won the most medals, and what types of medals (gold, silver, bronze) do they predominantly win?"</vt:lpstr>
      <vt:lpstr>Question: "Which type of medal (gold, silver, or bronze) is most dominant for each country participating in the Olympics?"</vt:lpstr>
      <vt:lpstr>Question: "How does participation in the Olympics vary between countries, and how is it divided between Summer and Winter Games?"</vt:lpstr>
      <vt:lpstr>Question: "What is the relationship between height and weight across different sports, and do specific sports show distinct patterns in this relationship?"</vt:lpstr>
      <vt:lpstr>Question: "How is the distribution of medals (gold, silver, bronze) across different age groups of athletes in the Olympics?"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Comprehensive Analysis of Olympic Trends and Medal Success</dc:title>
  <dc:creator>Kantilal, Sheetal</dc:creator>
  <cp:lastModifiedBy>Gilbert Vijayan</cp:lastModifiedBy>
  <cp:revision>21</cp:revision>
  <dcterms:created xsi:type="dcterms:W3CDTF">2024-11-15T19:04:24Z</dcterms:created>
  <dcterms:modified xsi:type="dcterms:W3CDTF">2026-04-10T04:35:22Z</dcterms:modified>
</cp:coreProperties>
</file>